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8"/>
    <p:sldId id="264" r:id="rId9"/>
    <p:sldId id="266" r:id="rId10"/>
    <p:sldId id="269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94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1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3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8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43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64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69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95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35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8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046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8187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376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406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8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859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351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FFE88-DF33-4516-BEDD-5C07B020FD0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B68F0-08BF-4491-908E-B6F0251F5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1779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DF288-0457-FC44-0FA8-3BA60F9B8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2621" y="1973655"/>
            <a:ext cx="7606751" cy="1455345"/>
          </a:xfrm>
        </p:spPr>
        <p:txBody>
          <a:bodyPr/>
          <a:lstStyle/>
          <a:p>
            <a:pPr algn="ctr"/>
            <a:r>
              <a:rPr lang="ru-RU" sz="4400" b="1" dirty="0"/>
              <a:t>О</a:t>
            </a:r>
            <a:r>
              <a:rPr lang="ru-RU" sz="3200" b="1" dirty="0"/>
              <a:t>бзор</a:t>
            </a:r>
            <a:r>
              <a:rPr lang="en-US" sz="3200" b="1" dirty="0"/>
              <a:t> </a:t>
            </a:r>
            <a:r>
              <a:rPr lang="ru-RU" sz="3200" b="1" dirty="0"/>
              <a:t>программного продукта для разработки</a:t>
            </a:r>
            <a:r>
              <a:rPr lang="ru-RU" b="1" dirty="0"/>
              <a:t> (</a:t>
            </a:r>
            <a:r>
              <a:rPr lang="en-US" sz="4400" b="1" dirty="0"/>
              <a:t>V</a:t>
            </a:r>
            <a:r>
              <a:rPr lang="en-US" sz="3200" b="1" dirty="0"/>
              <a:t>isual</a:t>
            </a:r>
            <a:r>
              <a:rPr lang="en-US" b="1" dirty="0"/>
              <a:t> </a:t>
            </a:r>
            <a:r>
              <a:rPr lang="en-US" sz="4400" b="1" dirty="0"/>
              <a:t>S</a:t>
            </a:r>
            <a:r>
              <a:rPr lang="en-US" sz="3200" b="1" dirty="0"/>
              <a:t>tudio</a:t>
            </a:r>
            <a:r>
              <a:rPr lang="en-US" b="1" dirty="0"/>
              <a:t> </a:t>
            </a:r>
            <a:r>
              <a:rPr lang="en-US" sz="4400" b="1" dirty="0"/>
              <a:t>C</a:t>
            </a:r>
            <a:r>
              <a:rPr lang="en-US" sz="3200" b="1" dirty="0"/>
              <a:t>ode</a:t>
            </a:r>
            <a:r>
              <a:rPr lang="ru-RU" b="1" dirty="0"/>
              <a:t>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882A1E-9C08-B941-B054-4110941D4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055" y="3429000"/>
            <a:ext cx="5257885" cy="907610"/>
          </a:xfrm>
        </p:spPr>
        <p:txBody>
          <a:bodyPr anchor="ctr">
            <a:normAutofit/>
          </a:bodyPr>
          <a:lstStyle/>
          <a:p>
            <a:r>
              <a:rPr lang="ru-RU" sz="2400" dirty="0"/>
              <a:t>В</a:t>
            </a:r>
            <a:r>
              <a:rPr lang="ru-RU" sz="1800" dirty="0"/>
              <a:t>ыполнил</a:t>
            </a:r>
            <a:r>
              <a:rPr lang="ru-RU" sz="2400" dirty="0"/>
              <a:t>: К</a:t>
            </a:r>
            <a:r>
              <a:rPr lang="ru-RU" sz="1800" dirty="0"/>
              <a:t>ротов</a:t>
            </a:r>
            <a:r>
              <a:rPr lang="ru-RU" sz="2400" dirty="0"/>
              <a:t> И</a:t>
            </a:r>
            <a:r>
              <a:rPr lang="ru-RU" sz="1800" dirty="0"/>
              <a:t>ван</a:t>
            </a:r>
            <a:r>
              <a:rPr lang="ru-RU" sz="2400" dirty="0"/>
              <a:t> С</a:t>
            </a:r>
            <a:r>
              <a:rPr lang="ru-RU" sz="1800" dirty="0"/>
              <a:t>ергеевич (</a:t>
            </a:r>
            <a:r>
              <a:rPr lang="ru-RU" sz="2400" dirty="0"/>
              <a:t>ИВТ-2</a:t>
            </a:r>
            <a:r>
              <a:rPr lang="ru-RU" sz="1800" dirty="0"/>
              <a:t>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2485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56309-D552-CF24-8C64-AC5DAD1D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830" y="410455"/>
            <a:ext cx="6436339" cy="644964"/>
          </a:xfrm>
        </p:spPr>
        <p:txBody>
          <a:bodyPr>
            <a:normAutofit/>
          </a:bodyPr>
          <a:lstStyle/>
          <a:p>
            <a:r>
              <a:rPr lang="en-US" sz="4000" b="1" dirty="0"/>
              <a:t>V</a:t>
            </a:r>
            <a:r>
              <a:rPr lang="en-US" sz="3200" b="1" dirty="0"/>
              <a:t>isual</a:t>
            </a:r>
            <a:r>
              <a:rPr lang="en-US" sz="4000" b="1" dirty="0"/>
              <a:t> s</a:t>
            </a:r>
            <a:r>
              <a:rPr lang="en-US" sz="3200" b="1" dirty="0"/>
              <a:t>tudio</a:t>
            </a:r>
            <a:r>
              <a:rPr lang="en-US" sz="4000" b="1" dirty="0"/>
              <a:t> c</a:t>
            </a:r>
            <a:r>
              <a:rPr lang="en-US" sz="3200" b="1" dirty="0"/>
              <a:t>ode</a:t>
            </a:r>
            <a:r>
              <a:rPr lang="en-US" sz="4000" b="1" dirty="0"/>
              <a:t> (VS C</a:t>
            </a:r>
            <a:r>
              <a:rPr lang="en-US" sz="3200" b="1" dirty="0"/>
              <a:t>ode</a:t>
            </a:r>
            <a:r>
              <a:rPr lang="en-US" sz="4000" b="1" dirty="0"/>
              <a:t>)</a:t>
            </a:r>
            <a:endParaRPr lang="ru-RU" sz="4000" b="1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5D599F-D454-EDDC-1E6B-E769466FC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8803" y="1527770"/>
            <a:ext cx="5638045" cy="3802455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Visual Studio Code</a:t>
            </a:r>
            <a:r>
              <a:rPr lang="ru-RU" sz="2000" dirty="0"/>
              <a:t> (</a:t>
            </a:r>
            <a:r>
              <a:rPr lang="en-US" sz="2000" dirty="0"/>
              <a:t>VS Code</a:t>
            </a:r>
            <a:r>
              <a:rPr lang="ru-RU" sz="2000" dirty="0"/>
              <a:t>) – это бесплатный и легковесный редактор исходного кода для кроссплатформенной разработки, созданный  </a:t>
            </a:r>
            <a:r>
              <a:rPr lang="en-US" sz="2000" dirty="0"/>
              <a:t>Microsoft</a:t>
            </a:r>
            <a:r>
              <a:rPr lang="ru-RU" sz="2000" dirty="0"/>
              <a:t>. Является чем-то большим, чем простой текстовый редактор (например, </a:t>
            </a:r>
            <a:r>
              <a:rPr lang="en-US" sz="2000" dirty="0"/>
              <a:t>Notepad</a:t>
            </a:r>
            <a:r>
              <a:rPr lang="ru-RU" sz="2000" dirty="0"/>
              <a:t>++), но при этом не является полноценной интегрированной средой разработки (</a:t>
            </a:r>
            <a:r>
              <a:rPr lang="en-US" sz="2000" dirty="0"/>
              <a:t>IDE</a:t>
            </a:r>
            <a:r>
              <a:rPr lang="ru-RU" sz="2000" dirty="0"/>
              <a:t>), как, например, </a:t>
            </a:r>
            <a:r>
              <a:rPr lang="en-US" sz="2000" dirty="0"/>
              <a:t>Microsoft Visual Studio</a:t>
            </a:r>
            <a:r>
              <a:rPr lang="ru-RU" sz="2000" dirty="0"/>
              <a:t> и </a:t>
            </a:r>
            <a:r>
              <a:rPr lang="en-US" sz="2000" dirty="0"/>
              <a:t>PyCharm</a:t>
            </a:r>
            <a:r>
              <a:rPr lang="ru-RU" sz="2000" dirty="0"/>
              <a:t>.</a:t>
            </a:r>
          </a:p>
          <a:p>
            <a:pPr algn="just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477BDB-CBF8-A9F5-7C69-8E2CC2A80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345" y="1942175"/>
            <a:ext cx="2973647" cy="29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1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C41E-7E5E-3B98-6B0E-3C0AC0D0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2EE95-840E-E69C-456A-BEA92908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742" y="355152"/>
            <a:ext cx="5095336" cy="651849"/>
          </a:xfrm>
        </p:spPr>
        <p:txBody>
          <a:bodyPr>
            <a:normAutofit fontScale="90000"/>
          </a:bodyPr>
          <a:lstStyle/>
          <a:p>
            <a:r>
              <a:rPr lang="ru-RU" dirty="0"/>
              <a:t>✔ </a:t>
            </a:r>
            <a:r>
              <a:rPr lang="ru-RU" sz="4000" b="1" dirty="0"/>
              <a:t>П</a:t>
            </a:r>
            <a:r>
              <a:rPr lang="ru-RU" sz="3200" b="1" dirty="0"/>
              <a:t>реимущества </a:t>
            </a:r>
            <a:r>
              <a:rPr lang="en-US" sz="4000" b="1" dirty="0"/>
              <a:t>VS C</a:t>
            </a:r>
            <a:r>
              <a:rPr lang="en-US" sz="3200" b="1" dirty="0"/>
              <a:t>ode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89DB5-AD11-295C-727F-2B320B859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8082" y="1124696"/>
            <a:ext cx="10412657" cy="4608607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Кроссплатформенность:</a:t>
            </a:r>
            <a:r>
              <a:rPr lang="ru-RU" dirty="0"/>
              <a:t> </a:t>
            </a:r>
            <a:r>
              <a:rPr lang="en-US" dirty="0"/>
              <a:t>VS Code</a:t>
            </a:r>
            <a:r>
              <a:rPr lang="ru-RU" dirty="0"/>
              <a:t> прекрасно работает и на </a:t>
            </a:r>
            <a:r>
              <a:rPr lang="en-US" dirty="0"/>
              <a:t>Windows</a:t>
            </a:r>
            <a:r>
              <a:rPr lang="ru-RU" dirty="0"/>
              <a:t>, и на </a:t>
            </a:r>
            <a:r>
              <a:rPr lang="en-US" dirty="0"/>
              <a:t>macOS</a:t>
            </a:r>
            <a:r>
              <a:rPr lang="ru-RU" dirty="0"/>
              <a:t>, и на </a:t>
            </a:r>
            <a:r>
              <a:rPr lang="en-US" dirty="0"/>
              <a:t>Linux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Производительность:</a:t>
            </a:r>
            <a:r>
              <a:rPr lang="ru-RU" dirty="0"/>
              <a:t> низкое потребление ресурсов, быстрый запуск и высокая скорость работы по сравнению с полноценными средами интегрированной разработки (</a:t>
            </a:r>
            <a:r>
              <a:rPr lang="en-US" dirty="0"/>
              <a:t>IDE</a:t>
            </a:r>
            <a:r>
              <a:rPr lang="ru-RU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Расширяемость:</a:t>
            </a:r>
            <a:r>
              <a:rPr lang="ru-RU" dirty="0"/>
              <a:t> огромный каталог с множеством бесплатных расширений, с помощью которых можно значительно расширить функционал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Глубокая интеграция с </a:t>
            </a:r>
            <a:r>
              <a:rPr lang="en-US" u="sng" dirty="0"/>
              <a:t>Git</a:t>
            </a:r>
            <a:r>
              <a:rPr lang="ru-RU" u="sng" dirty="0"/>
              <a:t>:</a:t>
            </a:r>
            <a:r>
              <a:rPr lang="ru-RU" dirty="0"/>
              <a:t> мощные встроенные возможности для работы с системой контроля версий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Интегрированный терминал: </a:t>
            </a:r>
            <a:r>
              <a:rPr lang="ru-RU" dirty="0"/>
              <a:t>полнофункциональный встроенный терминал для командной строки (и, в том числе, например, для </a:t>
            </a:r>
            <a:r>
              <a:rPr lang="en-US" dirty="0"/>
              <a:t>PowerShell</a:t>
            </a:r>
            <a:r>
              <a:rPr lang="ru-RU" dirty="0"/>
              <a:t>) прямо внутри интерфейса редактора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62179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AB236-82B7-A410-89B3-E68DBBE3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CF33F-5093-DE8A-E4E0-B17785B6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829" y="372072"/>
            <a:ext cx="4599161" cy="641523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✖ Н</a:t>
            </a:r>
            <a:r>
              <a:rPr lang="ru-RU" sz="3200" b="1" dirty="0"/>
              <a:t>едостатки </a:t>
            </a:r>
            <a:r>
              <a:rPr lang="en-US" sz="4000" b="1" dirty="0"/>
              <a:t>VS C</a:t>
            </a:r>
            <a:r>
              <a:rPr lang="en-US" sz="3200" b="1" dirty="0"/>
              <a:t>ode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976AF4-1073-CC62-FACC-1003299A7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7191" y="2080033"/>
            <a:ext cx="8654439" cy="2697933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Ввиду обилия возможностей и расширений, самостоятельная настройка среды под свои нужды может вызывать затруднения, особенно у неопытных пользователей </a:t>
            </a:r>
          </a:p>
          <a:p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Полноценные </a:t>
            </a:r>
            <a:r>
              <a:rPr lang="en-US" dirty="0"/>
              <a:t>IDE</a:t>
            </a:r>
            <a:r>
              <a:rPr lang="ru-RU" dirty="0"/>
              <a:t> для некоторых языков, например </a:t>
            </a:r>
            <a:r>
              <a:rPr lang="en-US" dirty="0"/>
              <a:t>IntelliJ IDEA </a:t>
            </a:r>
            <a:r>
              <a:rPr lang="ru-RU" dirty="0"/>
              <a:t>для </a:t>
            </a:r>
            <a:r>
              <a:rPr lang="en-US" dirty="0"/>
              <a:t>Java </a:t>
            </a:r>
            <a:r>
              <a:rPr lang="ru-RU" dirty="0"/>
              <a:t>или </a:t>
            </a:r>
            <a:r>
              <a:rPr lang="en-US" dirty="0"/>
              <a:t>Microsoft Visual Studio </a:t>
            </a:r>
            <a:r>
              <a:rPr lang="ru-RU" dirty="0"/>
              <a:t>для </a:t>
            </a:r>
            <a:r>
              <a:rPr lang="en-US" dirty="0"/>
              <a:t>C</a:t>
            </a:r>
            <a:r>
              <a:rPr lang="ru-RU" dirty="0"/>
              <a:t>/</a:t>
            </a:r>
            <a:r>
              <a:rPr lang="en-US" dirty="0"/>
              <a:t>C</a:t>
            </a:r>
            <a:r>
              <a:rPr lang="ru-RU" dirty="0"/>
              <a:t>++/</a:t>
            </a:r>
            <a:r>
              <a:rPr lang="en-US" dirty="0"/>
              <a:t>C</a:t>
            </a:r>
            <a:r>
              <a:rPr lang="ru-RU" dirty="0"/>
              <a:t># превосходят </a:t>
            </a:r>
            <a:r>
              <a:rPr lang="en-US" dirty="0"/>
              <a:t>VS Code </a:t>
            </a:r>
            <a:r>
              <a:rPr lang="ru-RU" dirty="0"/>
              <a:t>по глубине интеграции и набору функций сразу же после установки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436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F6E3-C4E3-0512-6405-9F15B4C1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F73DE-4D96-FD43-E3FE-100A25EC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823" y="416066"/>
            <a:ext cx="5223175" cy="642796"/>
          </a:xfrm>
        </p:spPr>
        <p:txBody>
          <a:bodyPr>
            <a:normAutofit/>
          </a:bodyPr>
          <a:lstStyle/>
          <a:p>
            <a:r>
              <a:rPr lang="ru-RU" sz="4000" b="1" dirty="0"/>
              <a:t>А</a:t>
            </a:r>
            <a:r>
              <a:rPr lang="ru-RU" sz="3200" b="1" dirty="0"/>
              <a:t>ппаратное обеспечение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BC520C-500A-C25A-9B53-84F9584F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5915" y="1274275"/>
            <a:ext cx="8916989" cy="3060072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Процессор (</a:t>
            </a:r>
            <a:r>
              <a:rPr lang="en-US" u="sng" dirty="0"/>
              <a:t>CPU</a:t>
            </a:r>
            <a:r>
              <a:rPr lang="ru-RU" u="sng" dirty="0"/>
              <a:t>):</a:t>
            </a:r>
            <a:r>
              <a:rPr lang="ru-RU" dirty="0"/>
              <a:t> 1,6 ГГц или более производительный;</a:t>
            </a:r>
          </a:p>
          <a:p>
            <a:pPr lvl="0"/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Оперативная память (</a:t>
            </a:r>
            <a:r>
              <a:rPr lang="en-US" u="sng" dirty="0"/>
              <a:t>RAM</a:t>
            </a:r>
            <a:r>
              <a:rPr lang="ru-RU" u="sng" dirty="0"/>
              <a:t>):</a:t>
            </a:r>
            <a:r>
              <a:rPr lang="ru-RU" dirty="0"/>
              <a:t> 1 Гб (Рекомендуется хотя бы 4 Гб, а лучше всего 8+ Гб, особенно для работы над большими проектами);</a:t>
            </a:r>
          </a:p>
          <a:p>
            <a:pPr lvl="0"/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Место на диске:</a:t>
            </a:r>
            <a:r>
              <a:rPr lang="ru-RU" dirty="0"/>
              <a:t> ~500 Мб (Также потребуется дополнительное место для расширений, файлов проектов, кэша).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B4A63E-19FD-3432-930E-34CCA9AA9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07" y="4471550"/>
            <a:ext cx="2042041" cy="204204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BBB478-3F82-819D-E7A6-50ECCED75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048" y="4471549"/>
            <a:ext cx="2722722" cy="204204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Чехол для мобильного телефона, смартфон, чех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169C81-923B-F8D7-EA8C-F84BDB854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770" y="4471550"/>
            <a:ext cx="2042041" cy="204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7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6350A-18AA-65F0-D78F-EC3130B6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779FE-BC35-1793-A6B7-C975C88C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3112" y="368631"/>
            <a:ext cx="5802597" cy="690231"/>
          </a:xfrm>
        </p:spPr>
        <p:txBody>
          <a:bodyPr>
            <a:normAutofit/>
          </a:bodyPr>
          <a:lstStyle/>
          <a:p>
            <a:r>
              <a:rPr lang="ru-RU" sz="4000" b="1" dirty="0"/>
              <a:t>П</a:t>
            </a:r>
            <a:r>
              <a:rPr lang="ru-RU" sz="3200" b="1" dirty="0"/>
              <a:t>рограммное </a:t>
            </a:r>
            <a:r>
              <a:rPr lang="ru-RU" sz="4000" b="1" dirty="0"/>
              <a:t>о</a:t>
            </a:r>
            <a:r>
              <a:rPr lang="ru-RU" sz="3200" b="1" dirty="0"/>
              <a:t>беспечение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2E132C-7F3C-C291-07A1-AC9D9F5CD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395" y="1058862"/>
            <a:ext cx="9993407" cy="3601861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Операционная система (</a:t>
            </a:r>
            <a:r>
              <a:rPr lang="en-US" u="sng" dirty="0"/>
              <a:t>OS</a:t>
            </a:r>
            <a:r>
              <a:rPr lang="ru-RU" u="sng" dirty="0"/>
              <a:t>):</a:t>
            </a:r>
            <a:endParaRPr lang="ru-RU" dirty="0"/>
          </a:p>
          <a:p>
            <a:pPr lvl="0"/>
            <a:r>
              <a:rPr lang="ru-RU" dirty="0"/>
              <a:t>    Windows 10/11 (Можно использовать 7/8, но не рекомендуется)</a:t>
            </a:r>
          </a:p>
          <a:p>
            <a:pPr lvl="0"/>
            <a:r>
              <a:rPr lang="ru-RU" dirty="0"/>
              <a:t>    </a:t>
            </a:r>
            <a:r>
              <a:rPr lang="en-US" dirty="0"/>
              <a:t>macOS</a:t>
            </a:r>
            <a:r>
              <a:rPr lang="ru-RU" dirty="0"/>
              <a:t> 10.15 (</a:t>
            </a:r>
            <a:r>
              <a:rPr lang="en-US" dirty="0"/>
              <a:t>Catalina</a:t>
            </a:r>
            <a:r>
              <a:rPr lang="ru-RU" dirty="0"/>
              <a:t>) и новее</a:t>
            </a:r>
          </a:p>
          <a:p>
            <a:pPr lvl="0"/>
            <a:r>
              <a:rPr lang="ru-RU" dirty="0"/>
              <a:t>    </a:t>
            </a:r>
            <a:r>
              <a:rPr lang="en-US" dirty="0"/>
              <a:t>Linux (Debian): Ubuntu Desktop 16.04+, Debian 10+</a:t>
            </a:r>
            <a:endParaRPr lang="ru-RU" dirty="0"/>
          </a:p>
          <a:p>
            <a:pPr lvl="0"/>
            <a:r>
              <a:rPr lang="ru-RU" dirty="0"/>
              <a:t>    </a:t>
            </a:r>
            <a:r>
              <a:rPr lang="en-US" dirty="0"/>
              <a:t>Linux (Red Hat): Red Hat Enterprise Linux 7+, Fedora 30+</a:t>
            </a:r>
            <a:endParaRPr lang="ru-RU" dirty="0"/>
          </a:p>
          <a:p>
            <a:pPr lvl="0"/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u="sng" dirty="0"/>
              <a:t>Прочее:</a:t>
            </a:r>
            <a:r>
              <a:rPr lang="ru-RU" dirty="0"/>
              <a:t> для работы могут потребоваться дополнительные </a:t>
            </a:r>
            <a:r>
              <a:rPr lang="en-US" dirty="0"/>
              <a:t>SDK</a:t>
            </a:r>
            <a:r>
              <a:rPr lang="ru-RU" dirty="0"/>
              <a:t> и </a:t>
            </a:r>
            <a:r>
              <a:rPr lang="en-US" dirty="0"/>
              <a:t>runtime</a:t>
            </a:r>
            <a:r>
              <a:rPr lang="ru-RU" dirty="0"/>
              <a:t>-окружения (.</a:t>
            </a:r>
            <a:r>
              <a:rPr lang="en-US" dirty="0"/>
              <a:t>NET SDK</a:t>
            </a:r>
            <a:r>
              <a:rPr lang="ru-RU" dirty="0"/>
              <a:t>, </a:t>
            </a:r>
            <a:r>
              <a:rPr lang="en-US" dirty="0"/>
              <a:t>JDK</a:t>
            </a:r>
            <a:r>
              <a:rPr lang="ru-RU" dirty="0"/>
              <a:t>, </a:t>
            </a:r>
            <a:r>
              <a:rPr lang="en-US" dirty="0"/>
              <a:t>Node</a:t>
            </a:r>
            <a:r>
              <a:rPr lang="ru-RU" dirty="0"/>
              <a:t>.</a:t>
            </a:r>
            <a:r>
              <a:rPr lang="en-US" dirty="0" err="1"/>
              <a:t>js</a:t>
            </a:r>
            <a:r>
              <a:rPr lang="ru-RU" dirty="0"/>
              <a:t> и т. д.), которые необходимо будет установить отдельно. 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пингвин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0F5FD1-8B55-53CE-BFE3-8EF93C307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527" y="4783756"/>
            <a:ext cx="3979763" cy="170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5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75E95-E7EB-B8AE-6E04-7D80D4B95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B12C4-D5F4-80CC-6F5F-E5C537C2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491" y="398354"/>
            <a:ext cx="3941018" cy="669956"/>
          </a:xfrm>
        </p:spPr>
        <p:txBody>
          <a:bodyPr>
            <a:normAutofit/>
          </a:bodyPr>
          <a:lstStyle/>
          <a:p>
            <a:r>
              <a:rPr lang="ru-RU" sz="4000" b="1" dirty="0"/>
              <a:t>С</a:t>
            </a:r>
            <a:r>
              <a:rPr lang="ru-RU" sz="3200" b="1" dirty="0"/>
              <a:t>оздание </a:t>
            </a:r>
            <a:r>
              <a:rPr lang="ru-RU" sz="4000" b="1" dirty="0"/>
              <a:t>п</a:t>
            </a:r>
            <a:r>
              <a:rPr lang="ru-RU" sz="3200" b="1" dirty="0"/>
              <a:t>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FCAB86-81F2-9BC7-C144-FAEA594F2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8984" y="1341318"/>
            <a:ext cx="6563088" cy="4173648"/>
          </a:xfrm>
        </p:spPr>
        <p:txBody>
          <a:bodyPr/>
          <a:lstStyle/>
          <a:p>
            <a:r>
              <a:rPr lang="ru-RU" dirty="0"/>
              <a:t>Создание проекта в </a:t>
            </a:r>
            <a:r>
              <a:rPr lang="en-US" dirty="0"/>
              <a:t>VS Code</a:t>
            </a:r>
            <a:r>
              <a:rPr lang="ru-RU" dirty="0"/>
              <a:t> отличается от полноценных </a:t>
            </a:r>
            <a:r>
              <a:rPr lang="en-US" dirty="0"/>
              <a:t>IDE</a:t>
            </a:r>
            <a:r>
              <a:rPr lang="ru-RU" dirty="0"/>
              <a:t>. Здесь обычная папка с файлами и будет проектом. Рассмотрим по шагам: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Создаём Папку</a:t>
            </a:r>
            <a:r>
              <a:rPr lang="en-US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переименовываем её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Нажимаем на папку правой кнопкой мыши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 появившемся меню выбираем «Открыть в </a:t>
            </a:r>
            <a:r>
              <a:rPr lang="en-US" dirty="0"/>
              <a:t>VS Code</a:t>
            </a:r>
            <a:r>
              <a:rPr lang="ru-RU" dirty="0"/>
              <a:t>»</a:t>
            </a:r>
            <a:endParaRPr lang="en-US" dirty="0"/>
          </a:p>
          <a:p>
            <a:endParaRPr lang="en-US" dirty="0"/>
          </a:p>
          <a:p>
            <a:r>
              <a:rPr lang="ru-RU" dirty="0"/>
              <a:t>После этого можно работать с проектом: добавлять и открывать файлы, писать в них код и т.д.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9FB3F5-160D-CE76-8DFC-26C37E0D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951" y="1803903"/>
            <a:ext cx="2829320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23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9A685-A8E5-BCE8-E825-2845C1EE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824" y="407406"/>
            <a:ext cx="3011169" cy="651456"/>
          </a:xfrm>
        </p:spPr>
        <p:txBody>
          <a:bodyPr>
            <a:normAutofit/>
          </a:bodyPr>
          <a:lstStyle/>
          <a:p>
            <a:r>
              <a:rPr lang="ru-RU" sz="4000" b="1" dirty="0"/>
              <a:t>К</a:t>
            </a:r>
            <a:r>
              <a:rPr lang="ru-RU" sz="3200" b="1" dirty="0"/>
              <a:t>одирование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97F1AE-0898-ECF6-E9B7-504DF6335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167896"/>
            <a:ext cx="10501346" cy="2480651"/>
          </a:xfrm>
        </p:spPr>
        <p:txBody>
          <a:bodyPr/>
          <a:lstStyle/>
          <a:p>
            <a:r>
              <a:rPr lang="ru-RU" dirty="0"/>
              <a:t>В </a:t>
            </a:r>
            <a:r>
              <a:rPr lang="en-US" dirty="0"/>
              <a:t>VS Code </a:t>
            </a:r>
            <a:r>
              <a:rPr lang="ru-RU" dirty="0"/>
              <a:t>к базовым возможностям относятся подсветка синтаксиса для сотен языков программирования и навигация (возможности быстрого перехода к определению функции/класса, просмотр ссылок на функцию и структуры файла). Среди продвинутых</a:t>
            </a:r>
            <a:r>
              <a:rPr lang="en-US" dirty="0"/>
              <a:t> </a:t>
            </a:r>
            <a:r>
              <a:rPr lang="ru-RU" dirty="0"/>
              <a:t>Возможностей </a:t>
            </a:r>
            <a:r>
              <a:rPr lang="en-US" dirty="0"/>
              <a:t>VS Code </a:t>
            </a:r>
            <a:r>
              <a:rPr lang="ru-RU" dirty="0"/>
              <a:t>выделяется </a:t>
            </a:r>
            <a:r>
              <a:rPr lang="en-US" dirty="0"/>
              <a:t>IntelliSense – </a:t>
            </a:r>
            <a:r>
              <a:rPr lang="ru-RU" dirty="0"/>
              <a:t>технология умного автоматического дополнения кода, а также отображения информации о переменных, функциях и объектах. Работает со многими языками программирования (например, </a:t>
            </a:r>
            <a:r>
              <a:rPr lang="en-US" dirty="0"/>
              <a:t>Python, HTML), </a:t>
            </a:r>
            <a:r>
              <a:rPr lang="ru-RU" dirty="0"/>
              <a:t>но плохо себя показывает с низкоуровневыми языками (например, </a:t>
            </a:r>
            <a:r>
              <a:rPr lang="en-US" dirty="0"/>
              <a:t>C/C++).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D8FBA0-DFE8-4895-3E8D-F41E903A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659" y="3850709"/>
            <a:ext cx="3773501" cy="259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81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942D5-CBF0-4061-97DB-38FAB794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742" y="434230"/>
            <a:ext cx="2006514" cy="651851"/>
          </a:xfrm>
        </p:spPr>
        <p:txBody>
          <a:bodyPr>
            <a:normAutofit/>
          </a:bodyPr>
          <a:lstStyle/>
          <a:p>
            <a:r>
              <a:rPr lang="ru-RU" sz="4000" b="1" dirty="0"/>
              <a:t>О</a:t>
            </a:r>
            <a:r>
              <a:rPr lang="ru-RU" sz="3200" b="1" dirty="0"/>
              <a:t>тладка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10FA86-79A6-6839-3459-94B66312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7927" y="1269355"/>
            <a:ext cx="7856145" cy="1573433"/>
          </a:xfrm>
        </p:spPr>
        <p:txBody>
          <a:bodyPr/>
          <a:lstStyle/>
          <a:p>
            <a:r>
              <a:rPr lang="en-US" dirty="0"/>
              <a:t>VS Code</a:t>
            </a:r>
            <a:r>
              <a:rPr lang="ru-RU" dirty="0"/>
              <a:t> обладает мощный встроенным отладчиком, что является одной из сильнейших сторон данного продукта. С помощью него можно устанавливать точки остановки, пошагово выполнять код, проверять значения переменных в реальном времени. 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0FA155-089B-4A4B-70BF-70FC6D235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3026062"/>
            <a:ext cx="878327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4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618C9-79AF-B7EA-883D-D0232C53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9633F-BDC3-FC41-C2C5-846964072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7337" y="407406"/>
            <a:ext cx="2734146" cy="706988"/>
          </a:xfrm>
        </p:spPr>
        <p:txBody>
          <a:bodyPr>
            <a:normAutofit/>
          </a:bodyPr>
          <a:lstStyle/>
          <a:p>
            <a:r>
              <a:rPr lang="ru-RU" sz="4000" b="1" dirty="0"/>
              <a:t>Р</a:t>
            </a:r>
            <a:r>
              <a:rPr lang="ru-RU" sz="3200" b="1" dirty="0"/>
              <a:t>асширения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98F665-BBD8-57D0-D4ED-4308DF432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1348967"/>
            <a:ext cx="9906000" cy="2159645"/>
          </a:xfrm>
        </p:spPr>
        <p:txBody>
          <a:bodyPr/>
          <a:lstStyle/>
          <a:p>
            <a:r>
              <a:rPr lang="ru-RU" dirty="0"/>
              <a:t>В </a:t>
            </a:r>
            <a:r>
              <a:rPr lang="en-US" dirty="0"/>
              <a:t>VS Code </a:t>
            </a:r>
            <a:r>
              <a:rPr lang="ru-RU" dirty="0"/>
              <a:t>присутствует огромная библиотека расширениями разного рода: для различных языков программирования, фреймворков, а также вспомогательные инструменты. Это позволяет адаптировать редактор под свои собственные нужды, добавляя лишь необходимый для работы функционал и превращая таким образом </a:t>
            </a:r>
            <a:r>
              <a:rPr lang="en-US" dirty="0"/>
              <a:t>VS Code </a:t>
            </a:r>
            <a:r>
              <a:rPr lang="ru-RU" dirty="0"/>
              <a:t>В мощную среду разработки.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9C6596-42C1-1771-F0D1-535DCE815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299" y="3223814"/>
            <a:ext cx="4020111" cy="9716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067CB0-3004-2B46-D736-4A13C4F2F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299" y="4195500"/>
            <a:ext cx="4020111" cy="187855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58D380-96BD-CBBD-E9DE-DDA9D06FC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1" y="3223813"/>
            <a:ext cx="3878200" cy="28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83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E23B1-3639-5CD3-D616-A87A68D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465" y="416458"/>
            <a:ext cx="9325070" cy="642403"/>
          </a:xfrm>
        </p:spPr>
        <p:txBody>
          <a:bodyPr>
            <a:normAutofit/>
          </a:bodyPr>
          <a:lstStyle/>
          <a:p>
            <a:r>
              <a:rPr lang="ru-RU" sz="4000" b="1" dirty="0"/>
              <a:t>И</a:t>
            </a:r>
            <a:r>
              <a:rPr lang="ru-RU" sz="3200" b="1" dirty="0"/>
              <a:t>нтеграция с системой контроля версий </a:t>
            </a:r>
            <a:r>
              <a:rPr lang="en-US" sz="4000" b="1" dirty="0"/>
              <a:t>G</a:t>
            </a:r>
            <a:r>
              <a:rPr lang="en-US" sz="3200" b="1" dirty="0"/>
              <a:t>it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56139A-5BFC-C264-16B0-F462789EC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7091" y="1718587"/>
            <a:ext cx="9405876" cy="4051819"/>
          </a:xfrm>
        </p:spPr>
        <p:txBody>
          <a:bodyPr/>
          <a:lstStyle/>
          <a:p>
            <a:r>
              <a:rPr lang="ru-RU" dirty="0"/>
              <a:t>Глубокая интеграция с </a:t>
            </a:r>
            <a:r>
              <a:rPr lang="en-US" dirty="0"/>
              <a:t>Git </a:t>
            </a:r>
            <a:r>
              <a:rPr lang="ru-RU" dirty="0"/>
              <a:t>также является одной из сильнейших сторон </a:t>
            </a:r>
            <a:r>
              <a:rPr lang="en-US" dirty="0"/>
              <a:t>VS Code</a:t>
            </a:r>
            <a:r>
              <a:rPr lang="ru-RU" dirty="0"/>
              <a:t>. В интерфейсе есть боковая панель, с помощью которой можно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Создавать репозиторий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Делать коммиты</a:t>
            </a:r>
            <a:r>
              <a:rPr lang="en-US" dirty="0"/>
              <a:t>/</a:t>
            </a:r>
            <a:r>
              <a:rPr lang="ru-RU" dirty="0"/>
              <a:t>пуши</a:t>
            </a:r>
            <a:r>
              <a:rPr lang="en-US" dirty="0"/>
              <a:t>/</a:t>
            </a:r>
            <a:r>
              <a:rPr lang="ru-RU" dirty="0"/>
              <a:t>пулы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Отслеживать изменения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Создавать</a:t>
            </a:r>
            <a:r>
              <a:rPr lang="en-US" dirty="0"/>
              <a:t>/</a:t>
            </a:r>
            <a:r>
              <a:rPr lang="ru-RU" dirty="0"/>
              <a:t>удалять ветви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проводить слияние ветвей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222526-72F8-8307-62D1-A55B89EBD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392" y="2615155"/>
            <a:ext cx="2658582" cy="26691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6D4402-1F34-C209-D554-E744E41D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974" y="2615156"/>
            <a:ext cx="2718846" cy="26691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91E44E-DA82-5F80-63B2-079652B61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819" y="2615155"/>
            <a:ext cx="1198759" cy="266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7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F511-2EDB-8057-2F3C-F6ED68C9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DFF90-FC10-FD9C-6187-65149DF0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285" y="404260"/>
            <a:ext cx="2833430" cy="654602"/>
          </a:xfrm>
        </p:spPr>
        <p:txBody>
          <a:bodyPr>
            <a:normAutofit/>
          </a:bodyPr>
          <a:lstStyle/>
          <a:p>
            <a:r>
              <a:rPr lang="en-US" sz="4000" b="1" dirty="0"/>
              <a:t>AI</a:t>
            </a:r>
            <a:r>
              <a:rPr lang="en-US" b="1" dirty="0"/>
              <a:t>-</a:t>
            </a:r>
            <a:r>
              <a:rPr lang="ru-RU" sz="4000" b="1" dirty="0"/>
              <a:t>ф</a:t>
            </a:r>
            <a:r>
              <a:rPr lang="ru-RU" sz="3200" b="1" dirty="0"/>
              <a:t>ункции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4E03A1-F632-F0CB-6B1A-679D17D91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1337913"/>
            <a:ext cx="6010827" cy="4202808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Изначально </a:t>
            </a:r>
            <a:r>
              <a:rPr lang="en-US" dirty="0"/>
              <a:t>ai-</a:t>
            </a:r>
            <a:r>
              <a:rPr lang="ru-RU" dirty="0"/>
              <a:t>ФУНКЦИИ отсутствуют в </a:t>
            </a:r>
            <a:r>
              <a:rPr lang="en-US" dirty="0"/>
              <a:t>VS Code</a:t>
            </a:r>
            <a:r>
              <a:rPr lang="ru-RU" dirty="0"/>
              <a:t>, но легко добавляются (</a:t>
            </a:r>
            <a:r>
              <a:rPr lang="en-US" dirty="0"/>
              <a:t>GitHub Copilot</a:t>
            </a:r>
            <a:r>
              <a:rPr lang="ru-RU" dirty="0"/>
              <a:t> по сути встроен, но всё равно требует подключения). Среди самых известных можно выделить </a:t>
            </a:r>
            <a:r>
              <a:rPr lang="en-US" dirty="0"/>
              <a:t>GitHub Copilot</a:t>
            </a:r>
            <a:r>
              <a:rPr lang="ru-RU" dirty="0"/>
              <a:t> (плагин на основе </a:t>
            </a:r>
            <a:r>
              <a:rPr lang="en-US" dirty="0"/>
              <a:t>OpenAI</a:t>
            </a:r>
            <a:r>
              <a:rPr lang="ru-RU" dirty="0"/>
              <a:t>, который предоставляет </a:t>
            </a:r>
            <a:r>
              <a:rPr lang="en-US" dirty="0"/>
              <a:t>AI</a:t>
            </a:r>
            <a:r>
              <a:rPr lang="ru-RU" dirty="0"/>
              <a:t>-ассистента, способного генерировать целые строки кода и функции на основе комментариев на естественном языке) и </a:t>
            </a:r>
            <a:r>
              <a:rPr lang="en-US" dirty="0"/>
              <a:t>Copilot Chat</a:t>
            </a:r>
            <a:r>
              <a:rPr lang="ru-RU" dirty="0"/>
              <a:t> (ещё один </a:t>
            </a:r>
            <a:r>
              <a:rPr lang="en-US" dirty="0"/>
              <a:t>AI</a:t>
            </a:r>
            <a:r>
              <a:rPr lang="ru-RU" dirty="0"/>
              <a:t>-ассистент, только в этот раз в виде интерактивного чата, который может помогать писать код, объяснять его, генерировать тесты, находить баги и предлагать исправления).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949C4A-381F-6D78-F6F5-FE6FC5003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584" y="3467741"/>
            <a:ext cx="3950975" cy="207426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Графика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6CFFBC-D7C1-E878-4222-FDA2876FD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585" y="1393479"/>
            <a:ext cx="3950974" cy="207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554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D500-7072-3010-210E-F7528C1D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30E41-A984-68E8-6B62-2B7D4207E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302" y="397958"/>
            <a:ext cx="1674217" cy="660904"/>
          </a:xfrm>
        </p:spPr>
        <p:txBody>
          <a:bodyPr>
            <a:normAutofit/>
          </a:bodyPr>
          <a:lstStyle/>
          <a:p>
            <a:r>
              <a:rPr lang="ru-RU" sz="4000" b="1" dirty="0"/>
              <a:t>В</a:t>
            </a:r>
            <a:r>
              <a:rPr lang="ru-RU" sz="3200" b="1" dirty="0"/>
              <a:t>ывод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57639D-F915-8D77-2A20-51724EBC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268" y="2349177"/>
            <a:ext cx="8120284" cy="2159645"/>
          </a:xfrm>
        </p:spPr>
        <p:txBody>
          <a:bodyPr/>
          <a:lstStyle/>
          <a:p>
            <a:r>
              <a:rPr lang="en-US" dirty="0"/>
              <a:t>Visual Studio Code</a:t>
            </a:r>
            <a:r>
              <a:rPr lang="ru-RU" dirty="0"/>
              <a:t> – это современный и мощный редактор кода, который подходит как начинающим, так и опытным разработчикам. Будучи легковесным, он предлагает практически неограниченные возможности для расширения функционала с помощью огромного количества расширений.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1005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474</TotalTime>
  <Words>801</Words>
  <Application>Microsoft Office PowerPoint</Application>
  <PresentationFormat>Широкоэкранный</PresentationFormat>
  <Paragraphs>53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Tw Cen MT</vt:lpstr>
      <vt:lpstr>Контур</vt:lpstr>
      <vt:lpstr>Обзор программного продукта для разработки (Visual Studio Code)</vt:lpstr>
      <vt:lpstr>Visual studio code (VS Code)</vt:lpstr>
      <vt:lpstr>✔ Преимущества VS Code</vt:lpstr>
      <vt:lpstr>✖ Недостатки VS Code</vt:lpstr>
      <vt:lpstr>Аппаратное обеспечение</vt:lpstr>
      <vt:lpstr>Программное обеспечение</vt:lpstr>
      <vt:lpstr>Создание проекта</vt:lpstr>
      <vt:lpstr>Кодирование</vt:lpstr>
      <vt:lpstr>Отладка</vt:lpstr>
      <vt:lpstr>Расширения</vt:lpstr>
      <vt:lpstr>Интеграция с системой контроля версий Git</vt:lpstr>
      <vt:lpstr>AI-функции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Krotov</dc:creator>
  <cp:lastModifiedBy>Ivan Krotov</cp:lastModifiedBy>
  <cp:revision>1</cp:revision>
  <dcterms:created xsi:type="dcterms:W3CDTF">2025-09-27T00:47:03Z</dcterms:created>
  <dcterms:modified xsi:type="dcterms:W3CDTF">2025-09-27T08:41:28Z</dcterms:modified>
</cp:coreProperties>
</file>